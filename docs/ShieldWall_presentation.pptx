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GitHub" Type="http://schemas.openxmlformats.org/officeDocument/2006/relationships/hyperlink" Target="https://github.com/SushrithKbtech/shieldwal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FINAL-YEAR PROJECT  |  CIE-3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ShieldWall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2743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eBPF/XDP engine that detects and stops DDoS attacks on small servers in seconds, and explains itself in plain English with an LLM.</a:t>
            </a:r>
            <a:endParaRPr lang="en-US" sz="2000" dirty="0"/>
          </a:p>
        </p:txBody>
      </p:sp>
      <p:sp>
        <p:nvSpPr>
          <p:cNvPr id="5" name="Chip stack"/>
          <p:cNvSpPr/>
          <p:nvPr/>
        </p:nvSpPr>
        <p:spPr>
          <a:xfrm>
            <a:off x="640080" y="4114800"/>
            <a:ext cx="2194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hip stack text"/>
          <p:cNvSpPr txBox="1"/>
          <p:nvPr/>
        </p:nvSpPr>
        <p:spPr>
          <a:xfrm>
            <a:off x="64008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  |  Python  |  eBPF/XDP</a:t>
            </a:r>
            <a:endParaRPr lang="en-US" sz="1400" dirty="0"/>
          </a:p>
        </p:txBody>
      </p:sp>
      <p:sp>
        <p:nvSpPr>
          <p:cNvPr id="7" name="Chip flow"/>
          <p:cNvSpPr/>
          <p:nvPr/>
        </p:nvSpPr>
        <p:spPr>
          <a:xfrm>
            <a:off x="3017520" y="4114800"/>
            <a:ext cx="292608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hip flow text"/>
          <p:cNvSpPr txBox="1"/>
          <p:nvPr/>
        </p:nvSpPr>
        <p:spPr>
          <a:xfrm>
            <a:off x="30175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Detect, Mitigate, Explain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Small servers drown in fake traffic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tat value 1"/>
          <p:cNvSpPr txBox="1"/>
          <p:nvPr/>
        </p:nvSpPr>
        <p:spPr>
          <a:xfrm>
            <a:off x="68580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37%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all DDoS attacks hit the gaming industry, the most attacked sector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29184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tat value 2"/>
          <p:cNvSpPr txBox="1"/>
          <p:nvPr/>
        </p:nvSpPr>
        <p:spPr>
          <a:xfrm>
            <a:off x="352044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$38/hr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352044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is all a DDoS-for-hire service costs. Attacking is cheap, defending is not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12648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tat value 3"/>
          <p:cNvSpPr txBox="1"/>
          <p:nvPr/>
        </p:nvSpPr>
        <p:spPr>
          <a:xfrm>
            <a:off x="635508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94%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35508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web DDoS attacks stay under 100k req/s, small enough to slip past basic detection</a:t>
            </a:r>
            <a:endParaRPr lang="en-US" sz="1400" dirty="0"/>
          </a:p>
        </p:txBody>
      </p:sp>
      <p:sp>
        <p:nvSpPr>
          <p:cNvPr id="12" name="Focus box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Focus text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focus: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operators (game servers, small VPS owners, campus networks) who can't afford Cloudflare-scale protection and have nothing automatic today.</a:t>
            </a:r>
            <a:endParaRPr lang="en-US" sz="1400" dirty="0"/>
          </a:p>
        </p:txBody>
      </p:sp>
      <p:sp>
        <p:nvSpPr>
          <p:cNvPr id="14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Sources: Akamai State of the Internet, SentinelOne, StationX DDoS Statistics 2026, Cloudflare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system has to do</a:t>
            </a:r>
            <a:endParaRPr lang="en-US" sz="3000" dirty="0"/>
          </a:p>
        </p:txBody>
      </p:sp>
      <p:sp>
        <p:nvSpPr>
          <p:cNvPr id="3" name="Req badge 1"/>
          <p:cNvSpPr/>
          <p:nvPr/>
        </p:nvSpPr>
        <p:spPr>
          <a:xfrm>
            <a:off x="457200" y="141732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Req badge text 1"/>
          <p:cNvSpPr txBox="1"/>
          <p:nvPr/>
        </p:nvSpPr>
        <p:spPr>
          <a:xfrm>
            <a:off x="45720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Req 1"/>
          <p:cNvSpPr txBox="1"/>
          <p:nvPr/>
        </p:nvSpPr>
        <p:spPr>
          <a:xfrm>
            <a:off x="1051560" y="1371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 fast.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Spot a flood within seconds from live traffic counts.</a:t>
            </a:r>
            <a:endParaRPr lang="en-US" sz="1400" dirty="0"/>
          </a:p>
        </p:txBody>
      </p:sp>
      <p:sp>
        <p:nvSpPr>
          <p:cNvPr id="6" name="Req badge 2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Req badge text 2"/>
          <p:cNvSpPr txBox="1"/>
          <p:nvPr/>
        </p:nvSpPr>
        <p:spPr>
          <a:xfrm>
            <a:off x="45720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Req 2"/>
          <p:cNvSpPr txBox="1"/>
          <p:nvPr/>
        </p:nvSpPr>
        <p:spPr>
          <a:xfrm>
            <a:off x="1051560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 automatically.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Drop attack traffic in the kernel with no human in the loop.</a:t>
            </a:r>
            <a:endParaRPr lang="en-US" sz="1400" dirty="0"/>
          </a:p>
        </p:txBody>
      </p:sp>
      <p:sp>
        <p:nvSpPr>
          <p:cNvPr id="9" name="Req badge 3"/>
          <p:cNvSpPr/>
          <p:nvPr/>
        </p:nvSpPr>
        <p:spPr>
          <a:xfrm>
            <a:off x="457200" y="27340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eq badge text 3"/>
          <p:cNvSpPr txBox="1"/>
          <p:nvPr/>
        </p:nvSpPr>
        <p:spPr>
          <a:xfrm>
            <a:off x="457200" y="2734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Req 3"/>
          <p:cNvSpPr txBox="1"/>
          <p:nvPr/>
        </p:nvSpPr>
        <p:spPr>
          <a:xfrm>
            <a:off x="1051560" y="26883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Protect real users.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Allowlist, rule cap and expiring rules so players keep playing.</a:t>
            </a:r>
            <a:endParaRPr lang="en-US" sz="1400" dirty="0"/>
          </a:p>
        </p:txBody>
      </p:sp>
      <p:sp>
        <p:nvSpPr>
          <p:cNvPr id="12" name="Req badge 4"/>
          <p:cNvSpPr/>
          <p:nvPr/>
        </p:nvSpPr>
        <p:spPr>
          <a:xfrm>
            <a:off x="457200" y="3392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Req badge text 4"/>
          <p:cNvSpPr txBox="1"/>
          <p:nvPr/>
        </p:nvSpPr>
        <p:spPr>
          <a:xfrm>
            <a:off x="45720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Req 4"/>
          <p:cNvSpPr txBox="1"/>
          <p:nvPr/>
        </p:nvSpPr>
        <p:spPr>
          <a:xfrm>
            <a:off x="1051560" y="33467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itself.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An LLM writes plain-English summaries but never makes blocking decisions.</a:t>
            </a:r>
            <a:endParaRPr lang="en-US" sz="1400" dirty="0"/>
          </a:p>
        </p:txBody>
      </p:sp>
      <p:sp>
        <p:nvSpPr>
          <p:cNvPr id="15" name="Req badge 5"/>
          <p:cNvSpPr/>
          <p:nvPr/>
        </p:nvSpPr>
        <p:spPr>
          <a:xfrm>
            <a:off x="457200" y="40507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Req badge text 5"/>
          <p:cNvSpPr txBox="1"/>
          <p:nvPr/>
        </p:nvSpPr>
        <p:spPr>
          <a:xfrm>
            <a:off x="45720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Req 5"/>
          <p:cNvSpPr txBox="1"/>
          <p:nvPr/>
        </p:nvSpPr>
        <p:spPr>
          <a:xfrm>
            <a:off x="1051560" y="40050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on small hardware.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One commodity server, tested in an isolated lab.</a:t>
            </a:r>
            <a:endParaRPr lang="en-US" sz="1400" dirty="0"/>
          </a:p>
        </p:txBody>
      </p:sp>
      <p:sp>
        <p:nvSpPr>
          <p:cNvPr id="18" name="Limit card"/>
          <p:cNvSpPr/>
          <p:nvPr/>
        </p:nvSpPr>
        <p:spPr>
          <a:xfrm>
            <a:off x="6217920" y="1371600"/>
            <a:ext cx="2468880" cy="310896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Limit head"/>
          <p:cNvSpPr txBox="1"/>
          <p:nvPr/>
        </p:nvSpPr>
        <p:spPr>
          <a:xfrm>
            <a:off x="644652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Known limit</a:t>
            </a:r>
            <a:endParaRPr lang="en-US" sz="1800" dirty="0"/>
          </a:p>
        </p:txBody>
      </p:sp>
      <p:sp>
        <p:nvSpPr>
          <p:cNvPr id="20" name="Limit body"/>
          <p:cNvSpPr txBox="1"/>
          <p:nvPr/>
        </p:nvSpPr>
        <p:spPr>
          <a:xfrm>
            <a:off x="6446520" y="2057400"/>
            <a:ext cx="2011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flood bigger than the server's internet link can't be fixed locally. That needs upstream help (RTBH or BGP FlowSpec), planned as a stretch goal.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Design: the kernel drops, userspace decides</a:t>
            </a:r>
            <a:endParaRPr lang="en-US" sz="3000" dirty="0"/>
          </a:p>
        </p:txBody>
      </p:sp>
      <p:sp>
        <p:nvSpPr>
          <p:cNvPr id="3" name="Kernel container"/>
          <p:cNvSpPr/>
          <p:nvPr/>
        </p:nvSpPr>
        <p:spPr>
          <a:xfrm>
            <a:off x="2286000" y="1280160"/>
            <a:ext cx="2834640" cy="3520440"/>
          </a:xfrm>
          <a:prstGeom prst="roundRect">
            <a:avLst>
              <a:gd name="adj" fmla="val 2581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Kernel label"/>
          <p:cNvSpPr txBox="1"/>
          <p:nvPr/>
        </p:nvSpPr>
        <p:spPr>
          <a:xfrm>
            <a:off x="2286000" y="13441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KERNEL: DATA PLANE (C, eBPF/XDP)</a:t>
            </a:r>
            <a:endParaRPr lang="en-US" sz="1000" dirty="0"/>
          </a:p>
        </p:txBody>
      </p:sp>
      <p:sp>
        <p:nvSpPr>
          <p:cNvPr id="5" name="Userspace container"/>
          <p:cNvSpPr/>
          <p:nvPr/>
        </p:nvSpPr>
        <p:spPr>
          <a:xfrm>
            <a:off x="5943600" y="1280160"/>
            <a:ext cx="2743200" cy="2514600"/>
          </a:xfrm>
          <a:prstGeom prst="roundRect">
            <a:avLst>
              <a:gd name="adj" fmla="val 2909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" name="Userspace label"/>
          <p:cNvSpPr txBox="1"/>
          <p:nvPr/>
        </p:nvSpPr>
        <p:spPr>
          <a:xfrm>
            <a:off x="5943600" y="1344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USERSPACE: CONTROL PLANE (Python)</a:t>
            </a:r>
            <a:endParaRPr lang="en-US" sz="1000" dirty="0"/>
          </a:p>
        </p:txBody>
      </p:sp>
      <p:sp>
        <p:nvSpPr>
          <p:cNvPr id="7" name="Attacker"/>
          <p:cNvSpPr/>
          <p:nvPr/>
        </p:nvSpPr>
        <p:spPr>
          <a:xfrm>
            <a:off x="457200" y="173736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ttacker text"/>
          <p:cNvSpPr txBox="1"/>
          <p:nvPr/>
        </p:nvSpPr>
        <p:spPr>
          <a:xfrm>
            <a:off x="50292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Attacker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botnet replay</a:t>
            </a:r>
            <a:endParaRPr lang="en-US" sz="1200" dirty="0"/>
          </a:p>
        </p:txBody>
      </p:sp>
      <p:sp>
        <p:nvSpPr>
          <p:cNvPr id="9" name="Players"/>
          <p:cNvSpPr/>
          <p:nvPr/>
        </p:nvSpPr>
        <p:spPr>
          <a:xfrm>
            <a:off x="457200" y="274320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Players text"/>
          <p:cNvSpPr txBox="1"/>
          <p:nvPr/>
        </p:nvSpPr>
        <p:spPr>
          <a:xfrm>
            <a:off x="502920" y="2743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Real players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k6 / game clients</a:t>
            </a:r>
            <a:endParaRPr lang="en-US" sz="1200" dirty="0"/>
          </a:p>
        </p:txBody>
      </p:sp>
      <p:sp>
        <p:nvSpPr>
          <p:cNvPr id="11" name="XDP program"/>
          <p:cNvSpPr/>
          <p:nvPr/>
        </p:nvSpPr>
        <p:spPr>
          <a:xfrm>
            <a:off x="2423160" y="169164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XDP program text"/>
          <p:cNvSpPr txBox="1"/>
          <p:nvPr/>
        </p:nvSpPr>
        <p:spPr>
          <a:xfrm>
            <a:off x="246888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XDP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parse, count, drop at line rate</a:t>
            </a:r>
            <a:endParaRPr lang="en-US" sz="1200" dirty="0"/>
          </a:p>
        </p:txBody>
      </p:sp>
      <p:sp>
        <p:nvSpPr>
          <p:cNvPr id="13" name="Counter maps"/>
          <p:cNvSpPr/>
          <p:nvPr/>
        </p:nvSpPr>
        <p:spPr>
          <a:xfrm>
            <a:off x="242316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ounter maps text"/>
          <p:cNvSpPr txBox="1"/>
          <p:nvPr/>
        </p:nvSpPr>
        <p:spPr>
          <a:xfrm>
            <a:off x="246888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Counter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pps, bytes, SYN, ports</a:t>
            </a:r>
            <a:endParaRPr lang="en-US" sz="1200" dirty="0"/>
          </a:p>
        </p:txBody>
      </p:sp>
      <p:sp>
        <p:nvSpPr>
          <p:cNvPr id="15" name="Rule maps"/>
          <p:cNvSpPr/>
          <p:nvPr/>
        </p:nvSpPr>
        <p:spPr>
          <a:xfrm>
            <a:off x="374904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ule maps text"/>
          <p:cNvSpPr txBox="1"/>
          <p:nvPr/>
        </p:nvSpPr>
        <p:spPr>
          <a:xfrm>
            <a:off x="379476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Rule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drop + rate-limit</a:t>
            </a:r>
            <a:endParaRPr lang="en-US" sz="1200" dirty="0"/>
          </a:p>
        </p:txBody>
      </p:sp>
      <p:sp>
        <p:nvSpPr>
          <p:cNvPr id="17" name="Protected service"/>
          <p:cNvSpPr/>
          <p:nvPr/>
        </p:nvSpPr>
        <p:spPr>
          <a:xfrm>
            <a:off x="2423160" y="3749040"/>
            <a:ext cx="2560320" cy="82296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Protected service text"/>
          <p:cNvSpPr txBox="1"/>
          <p:nvPr/>
        </p:nvSpPr>
        <p:spPr>
          <a:xfrm>
            <a:off x="246888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Protected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Minecraft server sees only clean traffic</a:t>
            </a:r>
            <a:endParaRPr lang="en-US" sz="1200" dirty="0"/>
          </a:p>
        </p:txBody>
      </p:sp>
      <p:sp>
        <p:nvSpPr>
          <p:cNvPr id="19" name="Detector"/>
          <p:cNvSpPr/>
          <p:nvPr/>
        </p:nvSpPr>
        <p:spPr>
          <a:xfrm>
            <a:off x="6080760" y="16459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Detector text"/>
          <p:cNvSpPr txBox="1"/>
          <p:nvPr/>
        </p:nvSpPr>
        <p:spPr>
          <a:xfrm>
            <a:off x="6126480" y="1645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Detector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EWMA, CUSUM, entropy, sketches</a:t>
            </a:r>
            <a:endParaRPr lang="en-US" sz="1200" dirty="0"/>
          </a:p>
        </p:txBody>
      </p:sp>
      <p:sp>
        <p:nvSpPr>
          <p:cNvPr id="21" name="Mitigation controller"/>
          <p:cNvSpPr/>
          <p:nvPr/>
        </p:nvSpPr>
        <p:spPr>
          <a:xfrm>
            <a:off x="6080760" y="23317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itigation controller text"/>
          <p:cNvSpPr txBox="1"/>
          <p:nvPr/>
        </p:nvSpPr>
        <p:spPr>
          <a:xfrm>
            <a:off x="6126480" y="2331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Mitigation 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decide, expiry, safety</a:t>
            </a:r>
            <a:endParaRPr lang="en-US" sz="1200" dirty="0"/>
          </a:p>
        </p:txBody>
      </p:sp>
      <p:sp>
        <p:nvSpPr>
          <p:cNvPr id="23" name="LLM assistant"/>
          <p:cNvSpPr/>
          <p:nvPr/>
        </p:nvSpPr>
        <p:spPr>
          <a:xfrm>
            <a:off x="6080760" y="30175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LLM assistant text"/>
          <p:cNvSpPr txBox="1"/>
          <p:nvPr/>
        </p:nvSpPr>
        <p:spPr>
          <a:xfrm>
            <a:off x="6126480" y="3017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LLM assistant + SQL log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plain-English explanation, chat</a:t>
            </a:r>
            <a:endParaRPr lang="en-US" sz="1200" dirty="0"/>
          </a:p>
        </p:txBody>
      </p:sp>
      <p:sp>
        <p:nvSpPr>
          <p:cNvPr id="25" name="Dashboard"/>
          <p:cNvSpPr/>
          <p:nvPr/>
        </p:nvSpPr>
        <p:spPr>
          <a:xfrm>
            <a:off x="5943600" y="4023360"/>
            <a:ext cx="274320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Dashboard text"/>
          <p:cNvSpPr txBox="1"/>
          <p:nvPr/>
        </p:nvSpPr>
        <p:spPr>
          <a:xfrm>
            <a:off x="5989320" y="40233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traffic, player success, events, AI panel</a:t>
            </a:r>
            <a:endParaRPr lang="en-US" sz="1200" dirty="0"/>
          </a:p>
        </p:txBody>
      </p:sp>
      <p:sp>
        <p:nvSpPr>
          <p:cNvPr id="27" name="Arrow attacker"/>
          <p:cNvSpPr/>
          <p:nvPr/>
        </p:nvSpPr>
        <p:spPr>
          <a:xfrm>
            <a:off x="1920240" y="20756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Arrow players"/>
          <p:cNvSpPr/>
          <p:nvPr/>
        </p:nvSpPr>
        <p:spPr>
          <a:xfrm>
            <a:off x="1920240" y="3081528"/>
            <a:ext cx="502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Arrow read counts"/>
          <p:cNvSpPr/>
          <p:nvPr/>
        </p:nvSpPr>
        <p:spPr>
          <a:xfrm>
            <a:off x="5120640" y="1965960"/>
            <a:ext cx="9601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Arrow write rules"/>
          <p:cNvSpPr/>
          <p:nvPr/>
        </p:nvSpPr>
        <p:spPr>
          <a:xfrm flipH="1">
            <a:off x="4983480" y="3108960"/>
            <a:ext cx="10972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Read label"/>
          <p:cNvSpPr txBox="1"/>
          <p:nvPr/>
        </p:nvSpPr>
        <p:spPr>
          <a:xfrm>
            <a:off x="512064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 counts</a:t>
            </a:r>
            <a:endParaRPr lang="en-US" sz="1000" dirty="0"/>
          </a:p>
        </p:txBody>
      </p:sp>
      <p:sp>
        <p:nvSpPr>
          <p:cNvPr id="32" name="Write label"/>
          <p:cNvSpPr txBox="1"/>
          <p:nvPr/>
        </p:nvSpPr>
        <p:spPr>
          <a:xfrm>
            <a:off x="5120640" y="3154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write rules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Implementation: detect, mitigate, explain</a:t>
            </a:r>
            <a:endParaRPr lang="en-US" sz="3000" dirty="0"/>
          </a:p>
        </p:txBody>
      </p:sp>
      <p:sp>
        <p:nvSpPr>
          <p:cNvPr id="3" name="Impl card 1"/>
          <p:cNvSpPr/>
          <p:nvPr/>
        </p:nvSpPr>
        <p:spPr>
          <a:xfrm>
            <a:off x="45720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Impl head 1"/>
          <p:cNvSpPr txBox="1"/>
          <p:nvPr/>
        </p:nvSpPr>
        <p:spPr>
          <a:xfrm>
            <a:off x="64008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Detect</a:t>
            </a:r>
            <a:endParaRPr lang="en-US" sz="2000" dirty="0"/>
          </a:p>
        </p:txBody>
      </p:sp>
      <p:sp>
        <p:nvSpPr>
          <p:cNvPr id="5" name="Impl sub 1"/>
          <p:cNvSpPr txBox="1"/>
          <p:nvPr/>
        </p:nvSpPr>
        <p:spPr>
          <a:xfrm>
            <a:off x="64008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methods vote</a:t>
            </a:r>
            <a:endParaRPr lang="en-US" sz="1400" dirty="0"/>
          </a:p>
        </p:txBody>
      </p:sp>
      <p:sp>
        <p:nvSpPr>
          <p:cNvPr id="6" name="Impl bullets 1"/>
          <p:cNvSpPr txBox="1"/>
          <p:nvPr/>
        </p:nvSpPr>
        <p:spPr>
          <a:xfrm>
            <a:off x="64008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EWMA baseline with z-score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CUSUM catches slow ramps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Entropy of source spread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Count-Min, HyperLogLog and Bloom sketches track sources in KBs</a:t>
            </a:r>
            <a:endParaRPr lang="en-US" sz="1200" dirty="0"/>
          </a:p>
        </p:txBody>
      </p:sp>
      <p:sp>
        <p:nvSpPr>
          <p:cNvPr id="7" name="Impl card 2"/>
          <p:cNvSpPr/>
          <p:nvPr/>
        </p:nvSpPr>
        <p:spPr>
          <a:xfrm>
            <a:off x="329184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Impl head 2"/>
          <p:cNvSpPr txBox="1"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Mitigate</a:t>
            </a:r>
            <a:endParaRPr lang="en-US" sz="2000" dirty="0"/>
          </a:p>
        </p:txBody>
      </p:sp>
      <p:sp>
        <p:nvSpPr>
          <p:cNvPr id="9" name="Impl sub 2"/>
          <p:cNvSpPr txBox="1"/>
          <p:nvPr/>
        </p:nvSpPr>
        <p:spPr>
          <a:xfrm>
            <a:off x="347472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Block, then undo</a:t>
            </a:r>
            <a:endParaRPr lang="en-US" sz="1400" dirty="0"/>
          </a:p>
        </p:txBody>
      </p:sp>
      <p:sp>
        <p:nvSpPr>
          <p:cNvPr id="10" name="Impl bullets 2"/>
          <p:cNvSpPr txBox="1"/>
          <p:nvPr/>
        </p:nvSpPr>
        <p:spPr>
          <a:xfrm>
            <a:off x="347472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Signature drop (e.g. UDP src port 389)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Token-bucket rate limit on unknown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Every rule expires in ~60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Allowlist, rule cap, dry-run mode</a:t>
            </a:r>
            <a:endParaRPr lang="en-US" sz="1200" dirty="0"/>
          </a:p>
        </p:txBody>
      </p:sp>
      <p:sp>
        <p:nvSpPr>
          <p:cNvPr id="11" name="Impl card 3"/>
          <p:cNvSpPr/>
          <p:nvPr/>
        </p:nvSpPr>
        <p:spPr>
          <a:xfrm>
            <a:off x="612648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Impl head 3"/>
          <p:cNvSpPr txBox="1"/>
          <p:nvPr/>
        </p:nvSpPr>
        <p:spPr>
          <a:xfrm>
            <a:off x="630936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Explain</a:t>
            </a:r>
            <a:endParaRPr lang="en-US" sz="2000" dirty="0"/>
          </a:p>
        </p:txBody>
      </p:sp>
      <p:sp>
        <p:nvSpPr>
          <p:cNvPr id="13" name="Impl sub 3"/>
          <p:cNvSpPr txBox="1"/>
          <p:nvPr/>
        </p:nvSpPr>
        <p:spPr>
          <a:xfrm>
            <a:off x="630936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 the hot path</a:t>
            </a:r>
            <a:endParaRPr lang="en-US" sz="1400" dirty="0"/>
          </a:p>
        </p:txBody>
      </p:sp>
      <p:sp>
        <p:nvSpPr>
          <p:cNvPr id="14" name="Impl bullets 3"/>
          <p:cNvSpPr txBox="1"/>
          <p:nvPr/>
        </p:nvSpPr>
        <p:spPr>
          <a:xfrm>
            <a:off x="630936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LLM writes the incident summary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Chat over the SQL event log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Claude, Ollama or built-in wording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Never makes a blocking decision</a:t>
            </a:r>
            <a:endParaRPr lang="en-US" sz="1200" dirty="0"/>
          </a:p>
        </p:txBody>
      </p:sp>
      <p:sp>
        <p:nvSpPr>
          <p:cNvPr id="15" name="Stack strip"/>
          <p:cNvSpPr/>
          <p:nvPr/>
        </p:nvSpPr>
        <p:spPr>
          <a:xfrm>
            <a:off x="457200" y="420624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ck text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Stack: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 + eBPF/XDP (kernel), Python + bpftool (control), SQLite, Claude API / Ollama, scapy kernel test, live web dashboard, pytest +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and results</a:t>
            </a:r>
            <a:endParaRPr lang="en-US" sz="3000" dirty="0"/>
          </a:p>
        </p:txBody>
      </p:sp>
      <p:sp>
        <p:nvSpPr>
          <p:cNvPr id="3" name="Scenario card"/>
          <p:cNvSpPr/>
          <p:nvPr/>
        </p:nvSpPr>
        <p:spPr>
          <a:xfrm>
            <a:off x="457200" y="1325880"/>
            <a:ext cx="292608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cenario head"/>
          <p:cNvSpPr txBox="1"/>
          <p:nvPr/>
        </p:nvSpPr>
        <p:spPr>
          <a:xfrm>
            <a:off x="64008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Four test scenarios</a:t>
            </a:r>
            <a:endParaRPr lang="en-US" sz="1800" dirty="0"/>
          </a:p>
        </p:txBody>
      </p:sp>
      <p:sp>
        <p:nvSpPr>
          <p:cNvPr id="5" name="Scenario list"/>
          <p:cNvSpPr txBox="1"/>
          <p:nvPr/>
        </p:nvSpPr>
        <p:spPr>
          <a:xfrm>
            <a:off x="640080" y="19202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Clean attack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Attack mixed with real traffic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Legitimate spike, no attack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Attack bigger than the link</a:t>
            </a:r>
            <a:endParaRPr lang="en-US" sz="14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325880"/>
          <a:ext cx="50292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Without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 ShieldWall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detect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No detection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2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mitigate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Never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3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Real traffic served in attack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30-50%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98-99%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False positives (scenario 3)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0 false alarms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Detection F1 (60 trials)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F1 0.97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arget note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Result: </a:t>
            </a:r>
            <a:r>
              <a:rPr lang="en-US" sz="1400" dirty="0">
                <a:solidFill>
                  <a:schemeClr val="tx1"/>
                </a:solidFill>
              </a:rPr>
              <a:t>51 of 52 attacks caught (median 2 s), 100% precision, zero false alarms. On a real Linux kernel the XDP program dropped 3,000 of 3,000 flood packets and passed every player packet.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Code and summary</a:t>
            </a:r>
            <a:endParaRPr lang="en-US" sz="3000" dirty="0"/>
          </a:p>
        </p:txBody>
      </p:sp>
      <p:sp>
        <p:nvSpPr>
          <p:cNvPr id="3" name="GitHub card"/>
          <p:cNvSpPr/>
          <p:nvPr/>
        </p:nvSpPr>
        <p:spPr>
          <a:xfrm>
            <a:off x="457200" y="137160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GitHub head"/>
          <p:cNvSpPr txBox="1"/>
          <p:nvPr/>
        </p:nvSpPr>
        <p:spPr>
          <a:xfrm>
            <a:off x="7315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GitHub repository</a:t>
            </a:r>
            <a:endParaRPr lang="en-US" sz="2000" dirty="0"/>
          </a:p>
        </p:txBody>
      </p:sp>
      <p:sp>
        <p:nvSpPr>
          <p:cNvPr id="5" name="GitHub body"/>
          <p:cNvSpPr txBox="1"/>
          <p:nvPr/>
        </p:nvSpPr>
        <p:spPr>
          <a:xfrm>
            <a:off x="731520" y="21945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B2FF"/>
                </a:solidFill>
                <a:hlinkClick r:id="rIdGitHub"/>
              </a:rPr>
              <a:t>github.com/SushrithKbtech/shieldwall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XDP program, detection engine, dashboard, tests, kernel test and full results.</a:t>
            </a:r>
          </a:p>
        </p:txBody>
      </p:sp>
      <p:sp>
        <p:nvSpPr>
          <p:cNvPr id="6" name="Summary card 1"/>
          <p:cNvSpPr/>
          <p:nvPr/>
        </p:nvSpPr>
        <p:spPr>
          <a:xfrm>
            <a:off x="4663440" y="137160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ummary text 1"/>
          <p:cNvSpPr txBox="1"/>
          <p:nvPr/>
        </p:nvSpPr>
        <p:spPr>
          <a:xfrm>
            <a:off x="4846320" y="1371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problem: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Gaming is the top DDoS target and small operators are priced out of protection.</a:t>
            </a:r>
            <a:endParaRPr lang="en-US" sz="1200" dirty="0"/>
          </a:p>
        </p:txBody>
      </p:sp>
      <p:sp>
        <p:nvSpPr>
          <p:cNvPr id="8" name="Summary card 2"/>
          <p:cNvSpPr/>
          <p:nvPr/>
        </p:nvSpPr>
        <p:spPr>
          <a:xfrm>
            <a:off x="4663440" y="214884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ummary text 2"/>
          <p:cNvSpPr txBox="1"/>
          <p:nvPr/>
        </p:nvSpPr>
        <p:spPr>
          <a:xfrm>
            <a:off x="48463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engineering: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Kernel eBPF/XDP, streaming sketches and CUSUM detection.</a:t>
            </a:r>
            <a:endParaRPr lang="en-US" sz="1200" dirty="0"/>
          </a:p>
        </p:txBody>
      </p:sp>
      <p:sp>
        <p:nvSpPr>
          <p:cNvPr id="10" name="Summary card 3"/>
          <p:cNvSpPr/>
          <p:nvPr/>
        </p:nvSpPr>
        <p:spPr>
          <a:xfrm>
            <a:off x="4663440" y="292608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ummary text 3"/>
          <p:cNvSpPr txBox="1"/>
          <p:nvPr/>
        </p:nvSpPr>
        <p:spPr>
          <a:xfrm>
            <a:off x="484632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proof: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98-99% of player traffic served under attack, and 3,000 of 3,000 flood packets dropped on a real kernel.</a:t>
            </a:r>
            <a:endParaRPr lang="en-US" sz="1200" dirty="0"/>
          </a:p>
        </p:txBody>
      </p:sp>
      <p:sp>
        <p:nvSpPr>
          <p:cNvPr id="12" name="Closing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smart bouncer for small servers: it blocks attacks by itself and explains what it did.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eldWall">
  <a:themeElements>
    <a:clrScheme name="ShieldWall">
      <a:dk1>
        <a:srgbClr val="0F1A2E"/>
      </a:dk1>
      <a:lt1>
        <a:srgbClr val="FFFFFF"/>
      </a:lt1>
      <a:dk2>
        <a:srgbClr val="1B2A47"/>
      </a:dk2>
      <a:lt2>
        <a:srgbClr val="F4F5F7"/>
      </a:lt2>
      <a:accent1>
        <a:srgbClr val="3B7BFF"/>
      </a:accent1>
      <a:accent2>
        <a:srgbClr val="E8A33D"/>
      </a:accent2>
      <a:accent3>
        <a:srgbClr val="3FAE7A"/>
      </a:accent3>
      <a:accent4>
        <a:srgbClr val="8B7FE8"/>
      </a:accent4>
      <a:accent5>
        <a:srgbClr val="D9534F"/>
      </a:accent5>
      <a:accent6>
        <a:srgbClr val="5B6B83"/>
      </a:accent6>
      <a:hlink>
        <a:srgbClr val="3B7BFF"/>
      </a:hlink>
      <a:folHlink>
        <a:srgbClr val="8B7FE8"/>
      </a:folHlink>
    </a:clrScheme>
    <a:fontScheme name="ShieldWal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ShieldWall</dc:title>
  <dc:subject>PptxGenJS Presentation</dc:subject>
  <dc:creator>PptxGenJS</dc:creator>
  <cp:lastModifiedBy>PptxGenJS</cp:lastModifiedBy>
  <cp:revision>1</cp:revision>
  <dcterms:created xsi:type="dcterms:W3CDTF">2026-10-23T04:36:22Z</dcterms:created>
  <dcterms:modified xsi:type="dcterms:W3CDTF">2026-10-23T04:36:22Z</dcterms:modified>
</cp:coreProperties>
</file>