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GitHub" Type="http://schemas.openxmlformats.org/officeDocument/2006/relationships/hyperlink" Target="https://github.com/SushrithKbtech/shieldwal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731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FINAL-YEAR PROJECT  |  CIE-3</a:t>
            </a:r>
            <a:endParaRPr lang="en-US" sz="1400" dirty="0"/>
          </a:p>
        </p:txBody>
      </p:sp>
      <p:sp>
        <p:nvSpPr>
          <p:cNvPr id="3" name="Title"/>
          <p:cNvSpPr txBox="1"/>
          <p:nvPr/>
        </p:nvSpPr>
        <p:spPr>
          <a:xfrm>
            <a:off x="640080" y="15544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ShieldWall</a:t>
            </a:r>
            <a:endParaRPr lang="en-US" sz="6000" dirty="0"/>
          </a:p>
        </p:txBody>
      </p:sp>
      <p:sp>
        <p:nvSpPr>
          <p:cNvPr id="4" name="Subtitle"/>
          <p:cNvSpPr txBox="1"/>
          <p:nvPr/>
        </p:nvSpPr>
        <p:spPr>
          <a:xfrm>
            <a:off x="640080" y="274320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An eBPF/XDP engine that stops DDoS attacks on small servers in seconds and explains itself in plain English with gpt-4o-mini.</a:t>
            </a:r>
            <a:endParaRPr lang="en-US" sz="2000" dirty="0"/>
          </a:p>
        </p:txBody>
      </p:sp>
      <p:sp>
        <p:nvSpPr>
          <p:cNvPr id="5" name="Chip stack"/>
          <p:cNvSpPr/>
          <p:nvPr/>
        </p:nvSpPr>
        <p:spPr>
          <a:xfrm>
            <a:off x="640080" y="4114800"/>
            <a:ext cx="2194560" cy="41148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hip stack text"/>
          <p:cNvSpPr txBox="1"/>
          <p:nvPr/>
        </p:nvSpPr>
        <p:spPr>
          <a:xfrm>
            <a:off x="640080" y="4114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  |  Python  |  eBPF/XDP</a:t>
            </a:r>
            <a:endParaRPr lang="en-US" sz="1400" dirty="0"/>
          </a:p>
        </p:txBody>
      </p:sp>
      <p:sp>
        <p:nvSpPr>
          <p:cNvPr id="7" name="Chip flow"/>
          <p:cNvSpPr/>
          <p:nvPr/>
        </p:nvSpPr>
        <p:spPr>
          <a:xfrm>
            <a:off x="3017520" y="4114800"/>
            <a:ext cx="2926080" cy="41148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Chip flow text"/>
          <p:cNvSpPr txBox="1"/>
          <p:nvPr/>
        </p:nvSpPr>
        <p:spPr>
          <a:xfrm>
            <a:off x="3017520" y="4114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Detect, Mitigate, Explain</a:t>
            </a:r>
            <a:endParaRPr lang="en-US" sz="1400" dirty="0"/>
          </a:p>
        </p:txBody>
      </p:sp>
      <p:sp>
        <p:nvSpPr>
          <p:cNvPr id="9" name="Team panel"/>
          <p:cNvSpPr/>
          <p:nvPr/>
        </p:nvSpPr>
        <p:spPr>
          <a:xfrm>
            <a:off x="5394960" y="731520"/>
            <a:ext cx="3108960" cy="169672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am label"/>
          <p:cNvSpPr txBox="1"/>
          <p:nvPr/>
        </p:nvSpPr>
        <p:spPr>
          <a:xfrm>
            <a:off x="5577840" y="914400"/>
            <a:ext cx="2743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TEAM RSST</a:t>
            </a:r>
          </a:p>
        </p:txBody>
      </p:sp>
      <p:sp>
        <p:nvSpPr>
          <p:cNvPr id="11" name="Team names"/>
          <p:cNvSpPr txBox="1"/>
          <p:nvPr/>
        </p:nvSpPr>
        <p:spPr>
          <a:xfrm>
            <a:off x="5577840" y="1188720"/>
            <a:ext cx="1645920" cy="1056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 algn="l">
              <a:spcBef>
                <a:spcPts val="400"/>
              </a:spcBef>
              <a:buNone/>
            </a:pPr>
            <a:r>
              <a:rPr lang="en-US" sz="1400" dirty="0">
                <a:solidFill>
                  <a:schemeClr val="bg1"/>
                </a:solidFill>
              </a:rPr>
              <a:t>Rohit Jaysheel Diggi</a:t>
            </a:r>
          </a:p>
          <a:p>
            <a:pPr indent="0" marL="0" algn="l">
              <a:spcBef>
                <a:spcPts val="400"/>
              </a:spcBef>
              <a:buNone/>
            </a:pPr>
            <a:r>
              <a:rPr lang="en-US" sz="1400" dirty="0">
                <a:solidFill>
                  <a:schemeClr val="bg1"/>
                </a:solidFill>
              </a:rPr>
              <a:t>Saran Chekka</a:t>
            </a:r>
          </a:p>
          <a:p>
            <a:pPr indent="0" marL="0" algn="l">
              <a:spcBef>
                <a:spcPts val="400"/>
              </a:spcBef>
              <a:buNone/>
            </a:pPr>
            <a:r>
              <a:rPr lang="en-US" sz="1400" dirty="0">
                <a:solidFill>
                  <a:schemeClr val="bg1"/>
                </a:solidFill>
              </a:rPr>
              <a:t>Sushrith Kandagatla</a:t>
            </a:r>
          </a:p>
          <a:p>
            <a:pPr indent="0" marL="0" algn="l">
              <a:spcBef>
                <a:spcPts val="400"/>
              </a:spcBef>
              <a:buNone/>
            </a:pPr>
            <a:r>
              <a:rPr lang="en-US" sz="1400" dirty="0">
                <a:solidFill>
                  <a:schemeClr val="bg1"/>
                </a:solidFill>
              </a:rPr>
              <a:t>Tamish Sridatta Billa</a:t>
            </a:r>
          </a:p>
        </p:txBody>
      </p:sp>
      <p:sp>
        <p:nvSpPr>
          <p:cNvPr id="12" name="Team USNs"/>
          <p:cNvSpPr txBox="1"/>
          <p:nvPr/>
        </p:nvSpPr>
        <p:spPr>
          <a:xfrm>
            <a:off x="6995160" y="1188720"/>
            <a:ext cx="1325880" cy="1056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 algn="r">
              <a:spcBef>
                <a:spcPts val="400"/>
              </a:spcBef>
              <a:buNone/>
            </a:pPr>
            <a:r>
              <a:rPr lang="en-US" sz="1400" dirty="0">
                <a:solidFill>
                  <a:srgbClr val="9FB0C8"/>
                </a:solidFill>
              </a:rPr>
              <a:t>1RVU23CSE384</a:t>
            </a:r>
          </a:p>
          <a:p>
            <a:pPr indent="0" marL="0" algn="r">
              <a:spcBef>
                <a:spcPts val="400"/>
              </a:spcBef>
              <a:buNone/>
            </a:pPr>
            <a:r>
              <a:rPr lang="en-US" sz="1400" dirty="0">
                <a:solidFill>
                  <a:srgbClr val="9FB0C8"/>
                </a:solidFill>
              </a:rPr>
              <a:t>1RVU23CSE411</a:t>
            </a:r>
          </a:p>
          <a:p>
            <a:pPr indent="0" marL="0" algn="r">
              <a:spcBef>
                <a:spcPts val="400"/>
              </a:spcBef>
              <a:buNone/>
            </a:pPr>
            <a:r>
              <a:rPr lang="en-US" sz="1400" dirty="0">
                <a:solidFill>
                  <a:srgbClr val="9FB0C8"/>
                </a:solidFill>
              </a:rPr>
              <a:t>1RVU23CSE489</a:t>
            </a:r>
          </a:p>
          <a:p>
            <a:pPr indent="0" marL="0" algn="r">
              <a:spcBef>
                <a:spcPts val="400"/>
              </a:spcBef>
              <a:buNone/>
            </a:pPr>
            <a:r>
              <a:rPr lang="en-US" sz="1400" dirty="0">
                <a:solidFill>
                  <a:srgbClr val="9FB0C8"/>
                </a:solidFill>
              </a:rPr>
              <a:t>1RVU23CSE498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Small servers drown in fake traffic</a:t>
            </a:r>
            <a:endParaRPr lang="en-US" sz="3000" dirty="0"/>
          </a:p>
        </p:txBody>
      </p:sp>
      <p:sp>
        <p:nvSpPr>
          <p:cNvPr id="3" name="Stat card 1"/>
          <p:cNvSpPr/>
          <p:nvPr/>
        </p:nvSpPr>
        <p:spPr>
          <a:xfrm>
            <a:off x="457200" y="1371600"/>
            <a:ext cx="2560320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tat value 1"/>
          <p:cNvSpPr txBox="1"/>
          <p:nvPr/>
        </p:nvSpPr>
        <p:spPr>
          <a:xfrm>
            <a:off x="685800" y="1554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37%</a:t>
            </a:r>
            <a:endParaRPr lang="en-US" sz="4000" dirty="0"/>
          </a:p>
        </p:txBody>
      </p:sp>
      <p:sp>
        <p:nvSpPr>
          <p:cNvPr id="5" name="Stat label 1"/>
          <p:cNvSpPr txBox="1"/>
          <p:nvPr/>
        </p:nvSpPr>
        <p:spPr>
          <a:xfrm>
            <a:off x="685800" y="23317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of all DDoS attacks hit the gaming industry, the most attacked sector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3291840" y="1371600"/>
            <a:ext cx="2560320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tat value 2"/>
          <p:cNvSpPr txBox="1"/>
          <p:nvPr/>
        </p:nvSpPr>
        <p:spPr>
          <a:xfrm>
            <a:off x="3520440" y="1554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$38/hr</a:t>
            </a:r>
            <a:endParaRPr lang="en-US" sz="4000" dirty="0"/>
          </a:p>
        </p:txBody>
      </p:sp>
      <p:sp>
        <p:nvSpPr>
          <p:cNvPr id="8" name="Stat label 2"/>
          <p:cNvSpPr txBox="1"/>
          <p:nvPr/>
        </p:nvSpPr>
        <p:spPr>
          <a:xfrm>
            <a:off x="3520440" y="23317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is all a DDoS-for-hire service costs. Attacking is cheap, defending is not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6126480" y="1371600"/>
            <a:ext cx="2560320" cy="201168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tat value 3"/>
          <p:cNvSpPr txBox="1"/>
          <p:nvPr/>
        </p:nvSpPr>
        <p:spPr>
          <a:xfrm>
            <a:off x="6355080" y="1554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94%</a:t>
            </a:r>
            <a:endParaRPr lang="en-US" sz="4000" dirty="0"/>
          </a:p>
        </p:txBody>
      </p:sp>
      <p:sp>
        <p:nvSpPr>
          <p:cNvPr id="11" name="Stat label 3"/>
          <p:cNvSpPr txBox="1"/>
          <p:nvPr/>
        </p:nvSpPr>
        <p:spPr>
          <a:xfrm>
            <a:off x="6355080" y="23317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of web DDoS attacks stay under 100k req/s, small enough to slip past basic detection</a:t>
            </a:r>
            <a:endParaRPr lang="en-US" sz="1400" dirty="0"/>
          </a:p>
        </p:txBody>
      </p:sp>
      <p:sp>
        <p:nvSpPr>
          <p:cNvPr id="12" name="Focus box"/>
          <p:cNvSpPr/>
          <p:nvPr/>
        </p:nvSpPr>
        <p:spPr>
          <a:xfrm>
            <a:off x="457200" y="365760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Focus text"/>
          <p:cNvSpPr txBox="1"/>
          <p:nvPr/>
        </p:nvSpPr>
        <p:spPr>
          <a:xfrm>
            <a:off x="685800" y="36576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Our focus: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small operators (game servers, small VPS owners, campus networks) who can't afford Cloudflare-scale protection and have nothing automatic today.</a:t>
            </a:r>
            <a:endParaRPr lang="en-US" sz="1400" dirty="0"/>
          </a:p>
        </p:txBody>
      </p:sp>
      <p:sp>
        <p:nvSpPr>
          <p:cNvPr id="14" name="Sources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Sources: Akamai State of the Internet, SentinelOne, StationX DDoS Statistics 2026, Cloudflare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the system has to do</a:t>
            </a:r>
            <a:endParaRPr lang="en-US" sz="3000" dirty="0"/>
          </a:p>
        </p:txBody>
      </p:sp>
      <p:sp>
        <p:nvSpPr>
          <p:cNvPr id="3" name="Req badge 1"/>
          <p:cNvSpPr/>
          <p:nvPr/>
        </p:nvSpPr>
        <p:spPr>
          <a:xfrm>
            <a:off x="457200" y="1417320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Req badge text 1"/>
          <p:cNvSpPr txBox="1"/>
          <p:nvPr/>
        </p:nvSpPr>
        <p:spPr>
          <a:xfrm>
            <a:off x="457200" y="1417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Req 1"/>
          <p:cNvSpPr txBox="1"/>
          <p:nvPr/>
        </p:nvSpPr>
        <p:spPr>
          <a:xfrm>
            <a:off x="1051560" y="13716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Detect fast.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Spot a flood within seconds from live traffic counts.</a:t>
            </a:r>
            <a:endParaRPr lang="en-US" sz="1400" dirty="0"/>
          </a:p>
        </p:txBody>
      </p:sp>
      <p:sp>
        <p:nvSpPr>
          <p:cNvPr id="6" name="Req badge 2"/>
          <p:cNvSpPr/>
          <p:nvPr/>
        </p:nvSpPr>
        <p:spPr>
          <a:xfrm>
            <a:off x="457200" y="2075688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Req badge text 2"/>
          <p:cNvSpPr txBox="1"/>
          <p:nvPr/>
        </p:nvSpPr>
        <p:spPr>
          <a:xfrm>
            <a:off x="457200" y="2075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Req 2"/>
          <p:cNvSpPr txBox="1"/>
          <p:nvPr/>
        </p:nvSpPr>
        <p:spPr>
          <a:xfrm>
            <a:off x="1051560" y="20299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Block automatically.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Drop attack traffic in the kernel with no human in the loop.</a:t>
            </a:r>
            <a:endParaRPr lang="en-US" sz="1400" dirty="0"/>
          </a:p>
        </p:txBody>
      </p:sp>
      <p:sp>
        <p:nvSpPr>
          <p:cNvPr id="9" name="Req badge 3"/>
          <p:cNvSpPr/>
          <p:nvPr/>
        </p:nvSpPr>
        <p:spPr>
          <a:xfrm>
            <a:off x="457200" y="2734056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Req badge text 3"/>
          <p:cNvSpPr txBox="1"/>
          <p:nvPr/>
        </p:nvSpPr>
        <p:spPr>
          <a:xfrm>
            <a:off x="457200" y="2734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Req 3"/>
          <p:cNvSpPr txBox="1"/>
          <p:nvPr/>
        </p:nvSpPr>
        <p:spPr>
          <a:xfrm>
            <a:off x="1051560" y="268833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Protect real users.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Allowlist, rule cap and expiring rules so players keep playing.</a:t>
            </a:r>
            <a:endParaRPr lang="en-US" sz="1400" dirty="0"/>
          </a:p>
        </p:txBody>
      </p:sp>
      <p:sp>
        <p:nvSpPr>
          <p:cNvPr id="12" name="Req badge 4"/>
          <p:cNvSpPr/>
          <p:nvPr/>
        </p:nvSpPr>
        <p:spPr>
          <a:xfrm>
            <a:off x="457200" y="3392424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Req badge text 4"/>
          <p:cNvSpPr txBox="1"/>
          <p:nvPr/>
        </p:nvSpPr>
        <p:spPr>
          <a:xfrm>
            <a:off x="457200" y="3392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Req 4"/>
          <p:cNvSpPr txBox="1"/>
          <p:nvPr/>
        </p:nvSpPr>
        <p:spPr>
          <a:xfrm>
            <a:off x="1051560" y="334670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Explain itself.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gpt-4o-mini writes plain-English summaries but never makes blocking decisions.</a:t>
            </a:r>
            <a:endParaRPr lang="en-US" sz="1400" dirty="0"/>
          </a:p>
        </p:txBody>
      </p:sp>
      <p:sp>
        <p:nvSpPr>
          <p:cNvPr id="15" name="Req badge 5"/>
          <p:cNvSpPr/>
          <p:nvPr/>
        </p:nvSpPr>
        <p:spPr>
          <a:xfrm>
            <a:off x="457200" y="4050792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Req badge text 5"/>
          <p:cNvSpPr txBox="1"/>
          <p:nvPr/>
        </p:nvSpPr>
        <p:spPr>
          <a:xfrm>
            <a:off x="457200" y="4050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Req 5"/>
          <p:cNvSpPr txBox="1"/>
          <p:nvPr/>
        </p:nvSpPr>
        <p:spPr>
          <a:xfrm>
            <a:off x="1051560" y="40050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 on small hardware.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One commodity server, tested in an isolated lab.</a:t>
            </a:r>
            <a:endParaRPr lang="en-US" sz="1400" dirty="0"/>
          </a:p>
        </p:txBody>
      </p:sp>
      <p:sp>
        <p:nvSpPr>
          <p:cNvPr id="18" name="Limit card"/>
          <p:cNvSpPr/>
          <p:nvPr/>
        </p:nvSpPr>
        <p:spPr>
          <a:xfrm>
            <a:off x="6217920" y="1371600"/>
            <a:ext cx="2468880" cy="3108960"/>
          </a:xfrm>
          <a:prstGeom prst="roundRect">
            <a:avLst>
              <a:gd name="adj" fmla="val 296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Limit head"/>
          <p:cNvSpPr txBox="1"/>
          <p:nvPr/>
        </p:nvSpPr>
        <p:spPr>
          <a:xfrm>
            <a:off x="644652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Known limit</a:t>
            </a:r>
            <a:endParaRPr lang="en-US" sz="1800" dirty="0"/>
          </a:p>
        </p:txBody>
      </p:sp>
      <p:sp>
        <p:nvSpPr>
          <p:cNvPr id="20" name="Limit body"/>
          <p:cNvSpPr txBox="1"/>
          <p:nvPr/>
        </p:nvSpPr>
        <p:spPr>
          <a:xfrm>
            <a:off x="6446520" y="2011680"/>
            <a:ext cx="20116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Floods bigger than the internet link need upstream help, so ShieldWall asks the provider to filter them (BGP FlowSpec).</a:t>
            </a:r>
          </a:p>
          <a:p>
            <a:pPr indent="0" marL="0">
              <a:spcBef>
                <a:spcPts val="1400"/>
              </a:spcBef>
              <a:buNone/>
            </a:pPr>
            <a:r>
              <a:rPr lang="en-US" sz="1800" b="1" dirty="0">
                <a:solidFill>
                  <a:schemeClr val="accent2"/>
                </a:solidFill>
              </a:rPr>
              <a:t>No training needed</a:t>
            </a:r>
          </a:p>
          <a:p>
            <a:pPr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chemeClr val="bg1"/>
                </a:solidFill>
              </a:rPr>
              <a:t>It learns each server's normal traffic live. No dataset, no retraining.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Design: the kernel drops, userspace decides</a:t>
            </a:r>
            <a:endParaRPr lang="en-US" sz="3000" dirty="0"/>
          </a:p>
        </p:txBody>
      </p:sp>
      <p:sp>
        <p:nvSpPr>
          <p:cNvPr id="3" name="Kernel container"/>
          <p:cNvSpPr/>
          <p:nvPr/>
        </p:nvSpPr>
        <p:spPr>
          <a:xfrm>
            <a:off x="2286000" y="1280160"/>
            <a:ext cx="2834640" cy="3520440"/>
          </a:xfrm>
          <a:prstGeom prst="roundRect">
            <a:avLst>
              <a:gd name="adj" fmla="val 2581"/>
            </a:avLst>
          </a:prstGeom>
          <a:solidFill>
            <a:schemeClr val="tx2">
              <a:alpha val="60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Kernel label"/>
          <p:cNvSpPr txBox="1"/>
          <p:nvPr/>
        </p:nvSpPr>
        <p:spPr>
          <a:xfrm>
            <a:off x="2286000" y="134416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KERNEL: DATA PLANE (C, eBPF/XDP)</a:t>
            </a:r>
            <a:endParaRPr lang="en-US" sz="1000" dirty="0"/>
          </a:p>
        </p:txBody>
      </p:sp>
      <p:sp>
        <p:nvSpPr>
          <p:cNvPr id="5" name="Userspace container"/>
          <p:cNvSpPr/>
          <p:nvPr/>
        </p:nvSpPr>
        <p:spPr>
          <a:xfrm>
            <a:off x="5943600" y="1280160"/>
            <a:ext cx="2743200" cy="2514600"/>
          </a:xfrm>
          <a:prstGeom prst="roundRect">
            <a:avLst>
              <a:gd name="adj" fmla="val 2909"/>
            </a:avLst>
          </a:prstGeom>
          <a:solidFill>
            <a:schemeClr val="tx2">
              <a:alpha val="60000"/>
            </a:schemeClr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6" name="Userspace label"/>
          <p:cNvSpPr txBox="1"/>
          <p:nvPr/>
        </p:nvSpPr>
        <p:spPr>
          <a:xfrm>
            <a:off x="5943600" y="13441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USERSPACE: CONTROL PLANE (Python)</a:t>
            </a:r>
            <a:endParaRPr lang="en-US" sz="1000" dirty="0"/>
          </a:p>
        </p:txBody>
      </p:sp>
      <p:sp>
        <p:nvSpPr>
          <p:cNvPr id="7" name="Attacker"/>
          <p:cNvSpPr/>
          <p:nvPr/>
        </p:nvSpPr>
        <p:spPr>
          <a:xfrm>
            <a:off x="457200" y="1737360"/>
            <a:ext cx="1463040" cy="6858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Attacker text"/>
          <p:cNvSpPr txBox="1"/>
          <p:nvPr/>
        </p:nvSpPr>
        <p:spPr>
          <a:xfrm>
            <a:off x="502920" y="17373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Attacker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botnet / reflectors</a:t>
            </a:r>
            <a:endParaRPr lang="en-US" sz="1200" dirty="0"/>
          </a:p>
        </p:txBody>
      </p:sp>
      <p:sp>
        <p:nvSpPr>
          <p:cNvPr id="9" name="Players"/>
          <p:cNvSpPr/>
          <p:nvPr/>
        </p:nvSpPr>
        <p:spPr>
          <a:xfrm>
            <a:off x="457200" y="2743200"/>
            <a:ext cx="1463040" cy="6858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Players text"/>
          <p:cNvSpPr txBox="1"/>
          <p:nvPr/>
        </p:nvSpPr>
        <p:spPr>
          <a:xfrm>
            <a:off x="502920" y="27432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Real players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game clients</a:t>
            </a:r>
            <a:endParaRPr lang="en-US" sz="1200" dirty="0"/>
          </a:p>
        </p:txBody>
      </p:sp>
      <p:sp>
        <p:nvSpPr>
          <p:cNvPr id="11" name="XDP program"/>
          <p:cNvSpPr/>
          <p:nvPr/>
        </p:nvSpPr>
        <p:spPr>
          <a:xfrm>
            <a:off x="2423160" y="1691640"/>
            <a:ext cx="2560320" cy="77724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XDP program text"/>
          <p:cNvSpPr txBox="1"/>
          <p:nvPr/>
        </p:nvSpPr>
        <p:spPr>
          <a:xfrm>
            <a:off x="2468880" y="16916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XDP program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parse, count, drop at line rate</a:t>
            </a:r>
            <a:endParaRPr lang="en-US" sz="1200" dirty="0"/>
          </a:p>
        </p:txBody>
      </p:sp>
      <p:sp>
        <p:nvSpPr>
          <p:cNvPr id="13" name="Counter maps"/>
          <p:cNvSpPr/>
          <p:nvPr/>
        </p:nvSpPr>
        <p:spPr>
          <a:xfrm>
            <a:off x="2423160" y="2697480"/>
            <a:ext cx="1234440" cy="77724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Counter maps text"/>
          <p:cNvSpPr txBox="1"/>
          <p:nvPr/>
        </p:nvSpPr>
        <p:spPr>
          <a:xfrm>
            <a:off x="2468880" y="269748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Counter maps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pps, bytes, SYN, ports</a:t>
            </a:r>
            <a:endParaRPr lang="en-US" sz="1200" dirty="0"/>
          </a:p>
        </p:txBody>
      </p:sp>
      <p:sp>
        <p:nvSpPr>
          <p:cNvPr id="15" name="Rule maps"/>
          <p:cNvSpPr/>
          <p:nvPr/>
        </p:nvSpPr>
        <p:spPr>
          <a:xfrm>
            <a:off x="3749040" y="2697480"/>
            <a:ext cx="1234440" cy="77724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Rule maps text"/>
          <p:cNvSpPr txBox="1"/>
          <p:nvPr/>
        </p:nvSpPr>
        <p:spPr>
          <a:xfrm>
            <a:off x="3794760" y="269748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Rule maps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drop + rate-limit</a:t>
            </a:r>
            <a:endParaRPr lang="en-US" sz="1200" dirty="0"/>
          </a:p>
        </p:txBody>
      </p:sp>
      <p:sp>
        <p:nvSpPr>
          <p:cNvPr id="17" name="Protected service"/>
          <p:cNvSpPr/>
          <p:nvPr/>
        </p:nvSpPr>
        <p:spPr>
          <a:xfrm>
            <a:off x="2423160" y="3749040"/>
            <a:ext cx="2560320" cy="822960"/>
          </a:xfrm>
          <a:prstGeom prst="roundRect">
            <a:avLst>
              <a:gd name="adj" fmla="val 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Protected service text"/>
          <p:cNvSpPr txBox="1"/>
          <p:nvPr/>
        </p:nvSpPr>
        <p:spPr>
          <a:xfrm>
            <a:off x="2468880" y="37490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Protected service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Minecraft server sees only clean traffic</a:t>
            </a:r>
            <a:endParaRPr lang="en-US" sz="1200" dirty="0"/>
          </a:p>
        </p:txBody>
      </p:sp>
      <p:sp>
        <p:nvSpPr>
          <p:cNvPr id="19" name="Detector"/>
          <p:cNvSpPr/>
          <p:nvPr/>
        </p:nvSpPr>
        <p:spPr>
          <a:xfrm>
            <a:off x="6080760" y="1645920"/>
            <a:ext cx="2468880" cy="59436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Detector text"/>
          <p:cNvSpPr txBox="1"/>
          <p:nvPr/>
        </p:nvSpPr>
        <p:spPr>
          <a:xfrm>
            <a:off x="6126480" y="1645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Detector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EWMA, CUSUM, entropy, sketches</a:t>
            </a:r>
            <a:endParaRPr lang="en-US" sz="1200" dirty="0"/>
          </a:p>
        </p:txBody>
      </p:sp>
      <p:sp>
        <p:nvSpPr>
          <p:cNvPr id="21" name="Mitigation controller"/>
          <p:cNvSpPr/>
          <p:nvPr/>
        </p:nvSpPr>
        <p:spPr>
          <a:xfrm>
            <a:off x="6080760" y="2331720"/>
            <a:ext cx="2468880" cy="59436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Mitigation controller text"/>
          <p:cNvSpPr txBox="1"/>
          <p:nvPr/>
        </p:nvSpPr>
        <p:spPr>
          <a:xfrm>
            <a:off x="6126480" y="23317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Mitigation controller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decide, expiry, safety</a:t>
            </a:r>
            <a:endParaRPr lang="en-US" sz="1200" dirty="0"/>
          </a:p>
        </p:txBody>
      </p:sp>
      <p:sp>
        <p:nvSpPr>
          <p:cNvPr id="23" name="LLM assistant"/>
          <p:cNvSpPr/>
          <p:nvPr/>
        </p:nvSpPr>
        <p:spPr>
          <a:xfrm>
            <a:off x="6080760" y="3017520"/>
            <a:ext cx="2468880" cy="59436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LLM assistant text"/>
          <p:cNvSpPr txBox="1"/>
          <p:nvPr/>
        </p:nvSpPr>
        <p:spPr>
          <a:xfrm>
            <a:off x="6126480" y="30175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gpt-4o-mini + SQL log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plain-English explanation, chat</a:t>
            </a:r>
            <a:endParaRPr lang="en-US" sz="1200" dirty="0"/>
          </a:p>
        </p:txBody>
      </p:sp>
      <p:sp>
        <p:nvSpPr>
          <p:cNvPr id="25" name="Dashboard"/>
          <p:cNvSpPr/>
          <p:nvPr/>
        </p:nvSpPr>
        <p:spPr>
          <a:xfrm>
            <a:off x="5943600" y="4023360"/>
            <a:ext cx="2743200" cy="77724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Dashboard text"/>
          <p:cNvSpPr txBox="1"/>
          <p:nvPr/>
        </p:nvSpPr>
        <p:spPr>
          <a:xfrm>
            <a:off x="5989320" y="40233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Dashboard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traffic, player success, events, AI panel</a:t>
            </a:r>
            <a:endParaRPr lang="en-US" sz="1200" dirty="0"/>
          </a:p>
        </p:txBody>
      </p:sp>
      <p:sp>
        <p:nvSpPr>
          <p:cNvPr id="27" name="Arrow attacker"/>
          <p:cNvSpPr/>
          <p:nvPr/>
        </p:nvSpPr>
        <p:spPr>
          <a:xfrm>
            <a:off x="1920240" y="2075688"/>
            <a:ext cx="50292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8" name="Arrow players"/>
          <p:cNvSpPr/>
          <p:nvPr/>
        </p:nvSpPr>
        <p:spPr>
          <a:xfrm>
            <a:off x="1920240" y="3081528"/>
            <a:ext cx="50292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9" name="Arrow read counts"/>
          <p:cNvSpPr/>
          <p:nvPr/>
        </p:nvSpPr>
        <p:spPr>
          <a:xfrm>
            <a:off x="5120640" y="1965960"/>
            <a:ext cx="9601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0" name="Arrow write rules"/>
          <p:cNvSpPr/>
          <p:nvPr/>
        </p:nvSpPr>
        <p:spPr>
          <a:xfrm flipH="1">
            <a:off x="4983480" y="3108960"/>
            <a:ext cx="109728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1" name="Read label"/>
          <p:cNvSpPr txBox="1"/>
          <p:nvPr/>
        </p:nvSpPr>
        <p:spPr>
          <a:xfrm>
            <a:off x="5120640" y="16916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read counts</a:t>
            </a:r>
            <a:endParaRPr lang="en-US" sz="1000" dirty="0"/>
          </a:p>
        </p:txBody>
      </p:sp>
      <p:sp>
        <p:nvSpPr>
          <p:cNvPr id="32" name="Write label"/>
          <p:cNvSpPr txBox="1"/>
          <p:nvPr/>
        </p:nvSpPr>
        <p:spPr>
          <a:xfrm>
            <a:off x="5120640" y="31546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write rules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Implementation: detect, mitigate, explain</a:t>
            </a:r>
            <a:endParaRPr lang="en-US" sz="3000" dirty="0"/>
          </a:p>
        </p:txBody>
      </p:sp>
      <p:sp>
        <p:nvSpPr>
          <p:cNvPr id="3" name="Impl card 1"/>
          <p:cNvSpPr/>
          <p:nvPr/>
        </p:nvSpPr>
        <p:spPr>
          <a:xfrm>
            <a:off x="457200" y="1325880"/>
            <a:ext cx="2560320" cy="269748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Impl head 1"/>
          <p:cNvSpPr txBox="1"/>
          <p:nvPr/>
        </p:nvSpPr>
        <p:spPr>
          <a:xfrm>
            <a:off x="64008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Detect</a:t>
            </a:r>
            <a:endParaRPr lang="en-US" sz="2000" dirty="0"/>
          </a:p>
        </p:txBody>
      </p:sp>
      <p:sp>
        <p:nvSpPr>
          <p:cNvPr id="5" name="Impl sub 1"/>
          <p:cNvSpPr txBox="1"/>
          <p:nvPr/>
        </p:nvSpPr>
        <p:spPr>
          <a:xfrm>
            <a:off x="64008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Three methods vote</a:t>
            </a:r>
            <a:endParaRPr lang="en-US" sz="1400" dirty="0"/>
          </a:p>
        </p:txBody>
      </p:sp>
      <p:sp>
        <p:nvSpPr>
          <p:cNvPr id="6" name="Impl bullets 1"/>
          <p:cNvSpPr txBox="1"/>
          <p:nvPr/>
        </p:nvSpPr>
        <p:spPr>
          <a:xfrm>
            <a:off x="640080" y="219456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accent6"/>
                </a:solidFill>
              </a:rPr>
              <a:t>EWMA baseline with z-score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accent6"/>
                </a:solidFill>
              </a:rPr>
              <a:t>CUSUM catches slow ramps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accent6"/>
                </a:solidFill>
              </a:rPr>
              <a:t>Entropy of source spread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accent6"/>
                </a:solidFill>
              </a:rPr>
              <a:t>Count-Min, HyperLogLog and Bloom sketches track sources in KBs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accent6"/>
                </a:solidFill>
              </a:rPr>
              <a:t>No training: learns normal traffic live</a:t>
            </a:r>
            <a:endParaRPr lang="en-US" sz="1200" dirty="0"/>
          </a:p>
        </p:txBody>
      </p:sp>
      <p:sp>
        <p:nvSpPr>
          <p:cNvPr id="7" name="Impl card 2"/>
          <p:cNvSpPr/>
          <p:nvPr/>
        </p:nvSpPr>
        <p:spPr>
          <a:xfrm>
            <a:off x="3291840" y="1325880"/>
            <a:ext cx="2560320" cy="269748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Impl head 2"/>
          <p:cNvSpPr txBox="1"/>
          <p:nvPr/>
        </p:nvSpPr>
        <p:spPr>
          <a:xfrm>
            <a:off x="347472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Mitigate</a:t>
            </a:r>
            <a:endParaRPr lang="en-US" sz="2000" dirty="0"/>
          </a:p>
        </p:txBody>
      </p:sp>
      <p:sp>
        <p:nvSpPr>
          <p:cNvPr id="9" name="Impl sub 2"/>
          <p:cNvSpPr txBox="1"/>
          <p:nvPr/>
        </p:nvSpPr>
        <p:spPr>
          <a:xfrm>
            <a:off x="347472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Block, then undo</a:t>
            </a:r>
            <a:endParaRPr lang="en-US" sz="1400" dirty="0"/>
          </a:p>
        </p:txBody>
      </p:sp>
      <p:sp>
        <p:nvSpPr>
          <p:cNvPr id="10" name="Impl bullets 2"/>
          <p:cNvSpPr txBox="1"/>
          <p:nvPr/>
        </p:nvSpPr>
        <p:spPr>
          <a:xfrm>
            <a:off x="3474720" y="219456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accent6"/>
                </a:solidFill>
              </a:rPr>
              <a:t>Signature drop (e.g. UDP src port 389)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accent6"/>
                </a:solidFill>
              </a:rPr>
              <a:t>Token-bucket rate limit on unknown sources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accent6"/>
                </a:solidFill>
              </a:rPr>
              <a:t>Every rule expires in ~60 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accent6"/>
                </a:solidFill>
              </a:rPr>
              <a:t>Allowlist, rule cap, dry-run mode</a:t>
            </a:r>
            <a:endParaRPr lang="en-US" sz="1200" dirty="0"/>
          </a:p>
        </p:txBody>
      </p:sp>
      <p:sp>
        <p:nvSpPr>
          <p:cNvPr id="11" name="Impl card 3"/>
          <p:cNvSpPr/>
          <p:nvPr/>
        </p:nvSpPr>
        <p:spPr>
          <a:xfrm>
            <a:off x="6126480" y="1325880"/>
            <a:ext cx="2560320" cy="269748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Impl head 3"/>
          <p:cNvSpPr txBox="1"/>
          <p:nvPr/>
        </p:nvSpPr>
        <p:spPr>
          <a:xfrm>
            <a:off x="630936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Explain</a:t>
            </a:r>
            <a:endParaRPr lang="en-US" sz="2000" dirty="0"/>
          </a:p>
        </p:txBody>
      </p:sp>
      <p:sp>
        <p:nvSpPr>
          <p:cNvPr id="13" name="Impl sub 3"/>
          <p:cNvSpPr txBox="1"/>
          <p:nvPr/>
        </p:nvSpPr>
        <p:spPr>
          <a:xfrm>
            <a:off x="630936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Off the hot path</a:t>
            </a:r>
            <a:endParaRPr lang="en-US" sz="1400" dirty="0"/>
          </a:p>
        </p:txBody>
      </p:sp>
      <p:sp>
        <p:nvSpPr>
          <p:cNvPr id="14" name="Impl bullets 3"/>
          <p:cNvSpPr txBox="1"/>
          <p:nvPr/>
        </p:nvSpPr>
        <p:spPr>
          <a:xfrm>
            <a:off x="6309360" y="219456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accent6"/>
                </a:solidFill>
              </a:rPr>
              <a:t>gpt-4o-mini writes the incident summary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accent6"/>
                </a:solidFill>
              </a:rPr>
              <a:t>Chat over the SQL event log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accent6"/>
                </a:solidFill>
              </a:rPr>
              <a:t>Checked: 0 made-up numbers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accent6"/>
                </a:solidFill>
              </a:rPr>
              <a:t>Never makes a blocking decision</a:t>
            </a:r>
            <a:endParaRPr lang="en-US" sz="1200" dirty="0"/>
          </a:p>
        </p:txBody>
      </p:sp>
      <p:sp>
        <p:nvSpPr>
          <p:cNvPr id="15" name="Stack strip"/>
          <p:cNvSpPr/>
          <p:nvPr/>
        </p:nvSpPr>
        <p:spPr>
          <a:xfrm>
            <a:off x="457200" y="420624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Stack text"/>
          <p:cNvSpPr txBox="1"/>
          <p:nvPr/>
        </p:nvSpPr>
        <p:spPr>
          <a:xfrm>
            <a:off x="640080" y="42062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Stack: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 + eBPF/XDP (kernel), Python + bpftool (control), SQLite, OpenAI gpt-4o-mini, scapy kernel test, live web dashboard, pytest + GitHub Actions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Evaluation and results</a:t>
            </a:r>
            <a:endParaRPr lang="en-US" sz="3000" dirty="0"/>
          </a:p>
        </p:txBody>
      </p:sp>
      <p:sp>
        <p:nvSpPr>
          <p:cNvPr id="3" name="Scenario card"/>
          <p:cNvSpPr/>
          <p:nvPr/>
        </p:nvSpPr>
        <p:spPr>
          <a:xfrm>
            <a:off x="457200" y="1325880"/>
            <a:ext cx="2926080" cy="27432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cenario head"/>
          <p:cNvSpPr txBox="1"/>
          <p:nvPr/>
        </p:nvSpPr>
        <p:spPr>
          <a:xfrm>
            <a:off x="64008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Four test scenarios</a:t>
            </a:r>
            <a:endParaRPr lang="en-US" sz="1800" dirty="0"/>
          </a:p>
        </p:txBody>
      </p:sp>
      <p:sp>
        <p:nvSpPr>
          <p:cNvPr id="5" name="Scenario list"/>
          <p:cNvSpPr txBox="1"/>
          <p:nvPr/>
        </p:nvSpPr>
        <p:spPr>
          <a:xfrm>
            <a:off x="640080" y="1874520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Clean attack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Attack mixed with real traffic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Legitimate spike, no attack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Attack bigger than the link</a:t>
            </a:r>
            <a:endParaRPr lang="en-US" sz="1300" dirty="0"/>
          </a:p>
          <a:p>
            <a:pPr indent="0" marL="0">
              <a:spcBef>
                <a:spcPts val="8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LLM check (gpt-4o-mini)</a:t>
            </a:r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F8A5B"/>
                </a:solidFill>
              </a:rPr>
              <a:t>100%</a:t>
            </a:r>
            <a:r>
              <a:rPr lang="en-US" sz="1300" dirty="0">
                <a:solidFill>
                  <a:schemeClr val="tx1"/>
                </a:solidFill>
              </a:rPr>
              <a:t> numbers grounded (49/49)</a:t>
            </a:r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F8A5B"/>
                </a:solidFill>
              </a:rPr>
              <a:t>100%</a:t>
            </a:r>
            <a:r>
              <a:rPr lang="en-US" sz="1300" dirty="0">
                <a:solidFill>
                  <a:schemeClr val="tx1"/>
                </a:solidFill>
              </a:rPr>
              <a:t> named the right attack</a:t>
            </a:r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1F8A5B"/>
                </a:solidFill>
              </a:rPr>
              <a:t>1.6 s</a:t>
            </a:r>
            <a:r>
              <a:rPr lang="en-US" sz="1300" dirty="0">
                <a:solidFill>
                  <a:schemeClr val="tx1"/>
                </a:solidFill>
              </a:rPr>
              <a:t> reply, </a:t>
            </a:r>
            <a:r>
              <a:rPr lang="en-US" sz="1300" b="1" dirty="0">
                <a:solidFill>
                  <a:srgbClr val="1F8A5B"/>
                </a:solidFill>
              </a:rPr>
              <a:t>$0.00008</a:t>
            </a:r>
            <a:r>
              <a:rPr lang="en-US" sz="1300" dirty="0">
                <a:solidFill>
                  <a:schemeClr val="tx1"/>
                </a:solidFill>
              </a:rPr>
              <a:t> each</a:t>
            </a:r>
          </a:p>
        </p:txBody>
      </p:sp>
      <p:graphicFrame>
        <p:nvGraphicFramePr>
          <p:cNvPr id="7" name="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1325880"/>
          <a:ext cx="50292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9728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Without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With ShieldWall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A2E"/>
                          </a:solidFill>
                        </a:rPr>
                        <a:t>Time to detect (s)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A2E"/>
                          </a:solidFill>
                        </a:rPr>
                        <a:t>No detection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8A5B"/>
                          </a:solidFill>
                        </a:rPr>
                        <a:t>2 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A2E"/>
                          </a:solidFill>
                        </a:rPr>
                        <a:t>Time to mitigate (s)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A2E"/>
                          </a:solidFill>
                        </a:rPr>
                        <a:t>Never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8A5B"/>
                          </a:solidFill>
                        </a:rPr>
                        <a:t>3 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A2E"/>
                          </a:solidFill>
                        </a:rPr>
                        <a:t>Real traffic served in attack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A2E"/>
                          </a:solidFill>
                        </a:rPr>
                        <a:t>30-50%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8A5B"/>
                          </a:solidFill>
                        </a:rPr>
                        <a:t>98-99%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A2E"/>
                          </a:solidFill>
                        </a:rPr>
                        <a:t>False positives (scenario 3)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A2E"/>
                          </a:solidFill>
                        </a:rPr>
                        <a:t>-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8A5B"/>
                          </a:solidFill>
                        </a:rPr>
                        <a:t>0 false alarms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A2E"/>
                          </a:solidFill>
                        </a:rPr>
                        <a:t>Detection F1 (60 trials)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A2E"/>
                          </a:solidFill>
                        </a:rPr>
                        <a:t>-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8A5B"/>
                          </a:solidFill>
                        </a:rPr>
                        <a:t>F1 0.97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arget note"/>
          <p:cNvSpPr txBox="1"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Result: </a:t>
            </a:r>
            <a:r>
              <a:rPr lang="en-US" sz="1400" dirty="0">
                <a:solidFill>
                  <a:schemeClr val="tx1"/>
                </a:solidFill>
              </a:rPr>
              <a:t>51 of 52 attacks caught (median 2 s), 100% precision, zero false alarms. On a real Linux kernel the XDP program dropped 3,000 of 3,000 flood packets and passed every player packet.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Code and summary</a:t>
            </a:r>
            <a:endParaRPr lang="en-US" sz="3000" dirty="0"/>
          </a:p>
        </p:txBody>
      </p:sp>
      <p:sp>
        <p:nvSpPr>
          <p:cNvPr id="3" name="GitHub card"/>
          <p:cNvSpPr/>
          <p:nvPr/>
        </p:nvSpPr>
        <p:spPr>
          <a:xfrm>
            <a:off x="457200" y="1371600"/>
            <a:ext cx="3931920" cy="219456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GitHub head"/>
          <p:cNvSpPr txBox="1"/>
          <p:nvPr/>
        </p:nvSpPr>
        <p:spPr>
          <a:xfrm>
            <a:off x="73152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GitHub repository</a:t>
            </a:r>
            <a:endParaRPr lang="en-US" sz="2000" dirty="0"/>
          </a:p>
        </p:txBody>
      </p:sp>
      <p:sp>
        <p:nvSpPr>
          <p:cNvPr id="5" name="GitHub body"/>
          <p:cNvSpPr txBox="1"/>
          <p:nvPr/>
        </p:nvSpPr>
        <p:spPr>
          <a:xfrm>
            <a:off x="731520" y="21945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FB2FF"/>
                </a:solidFill>
                <a:hlinkClick r:id="rIdGitHub"/>
              </a:rPr>
              <a:t>github.com/SushrithKbtech/shieldwall</a:t>
            </a:r>
          </a:p>
          <a:p>
            <a:pPr indent="0" marL="0">
              <a:spcBef>
                <a:spcPts val="1200"/>
              </a:spcBef>
              <a:buNone/>
            </a:pPr>
            <a:r>
              <a:rPr lang="en-US" sz="1400" dirty="0">
                <a:solidFill>
                  <a:schemeClr val="bg1"/>
                </a:solidFill>
              </a:rPr>
              <a:t>XDP program, detection engine, dashboard, tests, kernel test and full results.</a:t>
            </a:r>
          </a:p>
        </p:txBody>
      </p:sp>
      <p:sp>
        <p:nvSpPr>
          <p:cNvPr id="6" name="Summary card 1"/>
          <p:cNvSpPr/>
          <p:nvPr/>
        </p:nvSpPr>
        <p:spPr>
          <a:xfrm>
            <a:off x="4663440" y="137160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Summary text 1"/>
          <p:cNvSpPr txBox="1"/>
          <p:nvPr/>
        </p:nvSpPr>
        <p:spPr>
          <a:xfrm>
            <a:off x="4846320" y="13716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Real problem: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Gaming is the top DDoS target and small operators are priced out of protection.</a:t>
            </a:r>
            <a:endParaRPr lang="en-US" sz="1200" dirty="0"/>
          </a:p>
        </p:txBody>
      </p:sp>
      <p:sp>
        <p:nvSpPr>
          <p:cNvPr id="8" name="Summary card 2"/>
          <p:cNvSpPr/>
          <p:nvPr/>
        </p:nvSpPr>
        <p:spPr>
          <a:xfrm>
            <a:off x="4663440" y="214884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Summary text 2"/>
          <p:cNvSpPr txBox="1"/>
          <p:nvPr/>
        </p:nvSpPr>
        <p:spPr>
          <a:xfrm>
            <a:off x="4846320" y="21488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Real engineering: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Kernel eBPF/XDP, streaming sketches, CUSUM detection and a grounded gpt-4o-mini explainer.</a:t>
            </a:r>
            <a:endParaRPr lang="en-US" sz="1200" dirty="0"/>
          </a:p>
        </p:txBody>
      </p:sp>
      <p:sp>
        <p:nvSpPr>
          <p:cNvPr id="10" name="Summary card 3"/>
          <p:cNvSpPr/>
          <p:nvPr/>
        </p:nvSpPr>
        <p:spPr>
          <a:xfrm>
            <a:off x="4663440" y="2926080"/>
            <a:ext cx="402336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Summary text 3"/>
          <p:cNvSpPr txBox="1"/>
          <p:nvPr/>
        </p:nvSpPr>
        <p:spPr>
          <a:xfrm>
            <a:off x="4846320" y="29260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Real proof: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98-99% of player traffic served under attack, and 3,000 of 3,000 flood packets dropped on a real kernel.</a:t>
            </a:r>
            <a:endParaRPr lang="en-US" sz="1200" dirty="0"/>
          </a:p>
        </p:txBody>
      </p:sp>
      <p:sp>
        <p:nvSpPr>
          <p:cNvPr id="12" name="Closing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 smart bouncer for small servers: it blocks attacks by itself and explains what it did.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eldWall">
  <a:themeElements>
    <a:clrScheme name="ShieldWall">
      <a:dk1>
        <a:srgbClr val="0F1A2E"/>
      </a:dk1>
      <a:lt1>
        <a:srgbClr val="FFFFFF"/>
      </a:lt1>
      <a:dk2>
        <a:srgbClr val="1B2A47"/>
      </a:dk2>
      <a:lt2>
        <a:srgbClr val="F4F5F7"/>
      </a:lt2>
      <a:accent1>
        <a:srgbClr val="3B7BFF"/>
      </a:accent1>
      <a:accent2>
        <a:srgbClr val="E8A33D"/>
      </a:accent2>
      <a:accent3>
        <a:srgbClr val="3FAE7A"/>
      </a:accent3>
      <a:accent4>
        <a:srgbClr val="8B7FE8"/>
      </a:accent4>
      <a:accent5>
        <a:srgbClr val="D9534F"/>
      </a:accent5>
      <a:accent6>
        <a:srgbClr val="5B6B83"/>
      </a:accent6>
      <a:hlink>
        <a:srgbClr val="3B7BFF"/>
      </a:hlink>
      <a:folHlink>
        <a:srgbClr val="8B7FE8"/>
      </a:folHlink>
    </a:clrScheme>
    <a:fontScheme name="ShieldWal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ShieldWall</dc:title>
  <dc:subject>PptxGenJS Presentation</dc:subject>
  <dc:creator>PptxGenJS</dc:creator>
  <cp:lastModifiedBy>PptxGenJS</cp:lastModifiedBy>
  <cp:revision>1</cp:revision>
  <dcterms:created xsi:type="dcterms:W3CDTF">2026-10-23T04:36:22Z</dcterms:created>
  <dcterms:modified xsi:type="dcterms:W3CDTF">2026-10-23T04:36:22Z</dcterms:modified>
</cp:coreProperties>
</file>